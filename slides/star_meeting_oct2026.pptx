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3E7C8A"/>
            </a:solidFill>
          </c:spPr>
          <c:cat>
            <c:strRef>
              <c:f>Sheet1!$A$2:$A$11</c:f>
              <c:strCache>
                <c:ptCount val="10"/>
                <c:pt idx="0">
                  <c:v>Walking the island</c:v>
                </c:pt>
                <c:pt idx="1">
                  <c:v>Stevie Wonder Night</c:v>
                </c:pt>
                <c:pt idx="2">
                  <c:v>Trivia</c:v>
                </c:pt>
                <c:pt idx="3">
                  <c:v>Talks on the Rocks</c:v>
                </c:pt>
                <c:pt idx="4">
                  <c:v>Porchcraft</c:v>
                </c:pt>
                <c:pt idx="5">
                  <c:v>Name That Tune</c:v>
                </c:pt>
                <c:pt idx="6">
                  <c:v>Social Hour</c:v>
                </c:pt>
                <c:pt idx="7">
                  <c:v>Chapel</c:v>
                </c:pt>
                <c:pt idx="8">
                  <c:v>15x20</c:v>
                </c:pt>
                <c:pt idx="9">
                  <c:v>Lecture / Speaker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12</c:v>
                </c:pt>
              </c:numCache>
            </c:numRef>
          </c:val>
        </c:ser>
        <c:dLbls>
          <c:txPr>
            <a:bodyPr/>
            <a:lstStyle/>
            <a:p>
              <a:pPr>
                <a:defRPr sz="2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C7CC"/>
            </a:solidFill>
          </a:ln>
        </c:spPr>
        <c:txPr>
          <a:bodyPr/>
          <a:lstStyle/>
          <a:p>
            <a:pPr>
              <a:defRPr sz="2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79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2000">
          <a:solidFill>
            <a:srgbClr val="1B2B3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7FB7A4"/>
            </a:solidFill>
          </c:spPr>
          <c:cat>
            <c:strRef>
              <c:f>Sheet1!$A$2:$A$10</c:f>
              <c:strCache>
                <c:ptCount val="9"/>
                <c:pt idx="0">
                  <c:v>Banquet</c:v>
                </c:pt>
                <c:pt idx="1">
                  <c:v>Entertainment</c:v>
                </c:pt>
                <c:pt idx="2">
                  <c:v>Education</c:v>
                </c:pt>
                <c:pt idx="3">
                  <c:v>Spiritual/Wellness</c:v>
                </c:pt>
                <c:pt idx="4">
                  <c:v>Social Hour</c:v>
                </c:pt>
                <c:pt idx="5">
                  <c:v>Creative</c:v>
                </c:pt>
                <c:pt idx="6">
                  <c:v>Community/Games</c:v>
                </c:pt>
                <c:pt idx="7">
                  <c:v>Food Events</c:v>
                </c:pt>
                <c:pt idx="8">
                  <c:v>Communication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5</c:v>
                </c:pt>
                <c:pt idx="6">
                  <c:v>5</c:v>
                </c:pt>
                <c:pt idx="7">
                  <c:v>6</c:v>
                </c:pt>
                <c:pt idx="8">
                  <c:v>11</c:v>
                </c:pt>
              </c:numCache>
            </c:numRef>
          </c:val>
        </c:ser>
        <c:dLbls>
          <c:txPr>
            <a:bodyPr/>
            <a:lstStyle/>
            <a:p>
              <a:pPr>
                <a:defRPr sz="2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C7CC"/>
            </a:solidFill>
          </a:ln>
        </c:spPr>
        <c:txPr>
          <a:bodyPr/>
          <a:lstStyle/>
          <a:p>
            <a:pPr>
              <a:defRPr sz="2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6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2000">
          <a:solidFill>
            <a:srgbClr val="1B2B3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Chair's update for 2027 All Star I: theme, speaker, and what we heard in the 2026 evaluations.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She has taught and mentored students, residents, and fellows at Washington University St. Louis, UC Berkeley, and UCSF. Provider profile: https://doctors.northernlighthealth.org/provider/caroline-hollnagel/1902432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Tally from star_island/survey/tally_evals.py. Each respondent counts once per activity, out of the 22 who answered 'Which activities did you enjoy the most?'. Also mentioned: Musicale, karaoke, Book Group, Art Barn, Club Newton, Pel Show, yoga, kayaking.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 suggestions: telescopes for stargazing; reserved served tables for families with very young kids; junior teens rooming together; longer nestling hours; a senior-teen MC for the children's stunt show; a breathwork/longevity series; the Jr Teen boat every other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are respondents who checked at least one job in each area. Many also wrote 'happy to help wherever needed'.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103120"/>
            <a:ext cx="7498079" cy="1463040"/>
          </a:xfrm>
        </p:spPr>
        <p:txBody>
          <a:bodyPr wrap="square" anchor="b" lIns="0" rIns="0" tIns="0" bIns="0"/>
          <a:lstStyle/>
          <a:p>
            <a:pPr algn="l">
              <a:buNone/>
            </a:pPr>
            <a:r>
              <a:rPr sz="6000" b="1" i="0">
                <a:solidFill>
                  <a:srgbClr val="FFFFFF"/>
                </a:solidFill>
                <a:latin typeface="Cambria"/>
              </a:rPr>
              <a:t>Big Brain Island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31520" y="3749039"/>
            <a:ext cx="749807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600" b="0" i="0">
                <a:solidFill>
                  <a:srgbClr val="EAF2F0"/>
                </a:solidFill>
                <a:latin typeface="Calibri"/>
              </a:rPr>
              <a:t>2027 All Star I · Chair's Update</a:t>
            </a:r>
          </a:p>
          <a:p>
            <a:pPr algn="l">
              <a:buNone/>
            </a:pPr>
            <a:r>
              <a:rPr sz="2600" b="0" i="0">
                <a:solidFill>
                  <a:srgbClr val="7FB7A4"/>
                </a:solidFill>
                <a:latin typeface="Calibri"/>
              </a:rPr>
              <a:t>Star Meeting · October 4, 2026</a:t>
            </a:r>
          </a:p>
        </p:txBody>
      </p:sp>
      <p:sp>
        <p:nvSpPr>
          <p:cNvPr id="4" name="Title circle"/>
          <p:cNvSpPr/>
          <p:nvPr/>
        </p:nvSpPr>
        <p:spPr>
          <a:xfrm>
            <a:off x="8686800" y="1737360"/>
            <a:ext cx="2743200" cy="274320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 inner circle"/>
          <p:cNvSpPr/>
          <p:nvPr/>
        </p:nvSpPr>
        <p:spPr>
          <a:xfrm>
            <a:off x="9464040" y="2514600"/>
            <a:ext cx="1188720" cy="1188720"/>
          </a:xfrm>
          <a:prstGeom prst="ellipse">
            <a:avLst/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ctr" lIns="0" rIns="0" tIns="0" bIns="0"/>
          <a:lstStyle/>
          <a:p>
            <a:pPr algn="l">
              <a:buNone/>
            </a:pPr>
            <a:r>
              <a:rPr sz="3600" b="1" i="0">
                <a:solidFill>
                  <a:srgbClr val="12343B"/>
                </a:solidFill>
                <a:latin typeface="Cambria"/>
              </a:rPr>
              <a:t>Our 2027 theme: the mind, from womb to tomb</a:t>
            </a:r>
          </a:p>
        </p:txBody>
      </p:sp>
      <p:sp>
        <p:nvSpPr>
          <p:cNvPr id="3" name="Theme quote card"/>
          <p:cNvSpPr/>
          <p:nvPr/>
        </p:nvSpPr>
        <p:spPr>
          <a:xfrm>
            <a:off x="548640" y="1645920"/>
            <a:ext cx="5120640" cy="4297680"/>
          </a:xfrm>
          <a:prstGeom prst="roundRect">
            <a:avLst>
              <a:gd name="adj" fmla="val 6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heme quote"/>
          <p:cNvSpPr txBox="1"/>
          <p:nvPr/>
        </p:nvSpPr>
        <p:spPr>
          <a:xfrm>
            <a:off x="868680" y="1965960"/>
            <a:ext cx="44805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3200" b="1" i="0">
                <a:solidFill>
                  <a:srgbClr val="FFFFFF"/>
                </a:solidFill>
                <a:latin typeface="Cambria"/>
              </a:rPr>
              <a:t>Big Brain Island</a:t>
            </a:r>
          </a:p>
          <a:p>
            <a:pPr algn="l">
              <a:buNone/>
            </a:pPr>
            <a:r>
              <a:rPr sz="2600" b="0" i="1">
                <a:solidFill>
                  <a:srgbClr val="EAF2F0"/>
                </a:solidFill>
                <a:latin typeface="Calibri"/>
              </a:rPr>
              <a:t>Exploring the marvels and the mysteries of the mind from womb to tomb.</a:t>
            </a:r>
          </a:p>
        </p:txBody>
      </p:sp>
      <p:sp>
        <p:nvSpPr>
          <p:cNvPr id="5" name="Theme lead-in"/>
          <p:cNvSpPr txBox="1"/>
          <p:nvPr/>
        </p:nvSpPr>
        <p:spPr>
          <a:xfrm>
            <a:off x="6217920" y="164592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200" b="0" i="0">
                <a:solidFill>
                  <a:srgbClr val="1B2B34"/>
                </a:solidFill>
                <a:latin typeface="Calibri"/>
              </a:rPr>
              <a:t>Building on 2026's feedback, we want a conference that is:</a:t>
            </a:r>
          </a:p>
        </p:txBody>
      </p:sp>
      <p:sp>
        <p:nvSpPr>
          <p:cNvPr id="6" name="Engaging badge"/>
          <p:cNvSpPr/>
          <p:nvPr/>
        </p:nvSpPr>
        <p:spPr>
          <a:xfrm>
            <a:off x="6217920" y="2697480"/>
            <a:ext cx="731520" cy="73152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Engaging text"/>
          <p:cNvSpPr txBox="1"/>
          <p:nvPr/>
        </p:nvSpPr>
        <p:spPr>
          <a:xfrm>
            <a:off x="7178040" y="2606040"/>
            <a:ext cx="4434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12343B"/>
                </a:solidFill>
                <a:latin typeface="Calibri"/>
              </a:rPr>
              <a:t>Intellectually engaging</a:t>
            </a:r>
          </a:p>
        </p:txBody>
      </p:sp>
      <p:sp>
        <p:nvSpPr>
          <p:cNvPr id="8" name="Family badge"/>
          <p:cNvSpPr/>
          <p:nvPr/>
        </p:nvSpPr>
        <p:spPr>
          <a:xfrm>
            <a:off x="6217920" y="3794760"/>
            <a:ext cx="731520" cy="731520"/>
          </a:xfrm>
          <a:prstGeom prst="ellipse">
            <a:avLst/>
          </a:prstGeom>
          <a:solidFill>
            <a:srgbClr val="3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Family text"/>
          <p:cNvSpPr txBox="1"/>
          <p:nvPr/>
        </p:nvSpPr>
        <p:spPr>
          <a:xfrm>
            <a:off x="7178040" y="3703320"/>
            <a:ext cx="4434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12343B"/>
                </a:solidFill>
                <a:latin typeface="Calibri"/>
              </a:rPr>
              <a:t>Family-friendly</a:t>
            </a:r>
          </a:p>
        </p:txBody>
      </p:sp>
      <p:sp>
        <p:nvSpPr>
          <p:cNvPr id="10" name="Music badge"/>
          <p:cNvSpPr/>
          <p:nvPr/>
        </p:nvSpPr>
        <p:spPr>
          <a:xfrm>
            <a:off x="6217920" y="4892040"/>
            <a:ext cx="731520" cy="731520"/>
          </a:xfrm>
          <a:prstGeom prst="ellipse">
            <a:avLst/>
          </a:prstGeom>
          <a:solidFill>
            <a:srgbClr val="8C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Music text"/>
          <p:cNvSpPr txBox="1"/>
          <p:nvPr/>
        </p:nvSpPr>
        <p:spPr>
          <a:xfrm>
            <a:off x="7178040" y="4800600"/>
            <a:ext cx="4434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12343B"/>
                </a:solidFill>
                <a:latin typeface="Calibri"/>
              </a:rPr>
              <a:t>Musically &amp; artistically enriching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155680" y="62636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2000" b="0" i="0">
                <a:solidFill>
                  <a:srgbClr val="3E7C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ctr" lIns="0" rIns="0" tIns="0" bIns="0"/>
          <a:lstStyle/>
          <a:p>
            <a:pPr algn="l">
              <a:buNone/>
            </a:pPr>
            <a:r>
              <a:rPr sz="3600" b="1" i="0">
                <a:solidFill>
                  <a:srgbClr val="12343B"/>
                </a:solidFill>
                <a:latin typeface="Cambria"/>
              </a:rPr>
              <a:t>Speaker: Dr. Caroline Hollnagel</a:t>
            </a:r>
          </a:p>
        </p:txBody>
      </p:sp>
      <p:sp>
        <p:nvSpPr>
          <p:cNvPr id="3" name="Speaker summary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200" b="0" i="0">
                <a:solidFill>
                  <a:srgbClr val="1B2B34"/>
                </a:solidFill>
                <a:latin typeface="Calibri"/>
              </a:rPr>
              <a:t>A clinical neuropsychologist who studies how the brain shapes behavior, and a natural fit for Big Brain Island.</a:t>
            </a:r>
          </a:p>
        </p:txBody>
      </p:sp>
      <p:sp>
        <p:nvSpPr>
          <p:cNvPr id="4" name="Interests header"/>
          <p:cNvSpPr txBox="1"/>
          <p:nvPr/>
        </p:nvSpPr>
        <p:spPr>
          <a:xfrm>
            <a:off x="548640" y="237744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2343B"/>
                </a:solidFill>
                <a:latin typeface="Calibri"/>
              </a:rPr>
              <a:t>Clinical &amp; research interests</a:t>
            </a:r>
          </a:p>
        </p:txBody>
      </p:sp>
      <p:sp>
        <p:nvSpPr>
          <p:cNvPr id="5" name="Interest 1"/>
          <p:cNvSpPr/>
          <p:nvPr/>
        </p:nvSpPr>
        <p:spPr>
          <a:xfrm>
            <a:off x="548640" y="3017520"/>
            <a:ext cx="2834640" cy="77724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 rIns="0" tIns="0" bIns="0"/>
          <a:lstStyle/>
          <a:p>
            <a:pPr algn="l">
              <a:buNone/>
            </a:pPr>
            <a:r>
              <a:rPr sz="2000" b="0" i="0">
                <a:solidFill>
                  <a:srgbClr val="12343B"/>
                </a:solidFill>
                <a:latin typeface="Calibri"/>
              </a:rPr>
              <a:t>Dementia</a:t>
            </a:r>
          </a:p>
        </p:txBody>
      </p:sp>
      <p:sp>
        <p:nvSpPr>
          <p:cNvPr id="6" name="Interest 2"/>
          <p:cNvSpPr/>
          <p:nvPr/>
        </p:nvSpPr>
        <p:spPr>
          <a:xfrm>
            <a:off x="3566160" y="3017520"/>
            <a:ext cx="2834640" cy="77724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 rIns="0" tIns="0" bIns="0"/>
          <a:lstStyle/>
          <a:p>
            <a:pPr algn="l">
              <a:buNone/>
            </a:pPr>
            <a:r>
              <a:rPr sz="2000" b="0" i="0">
                <a:solidFill>
                  <a:srgbClr val="12343B"/>
                </a:solidFill>
                <a:latin typeface="Calibri"/>
              </a:rPr>
              <a:t>Frontal lobe &amp; inhibition</a:t>
            </a:r>
          </a:p>
        </p:txBody>
      </p:sp>
      <p:sp>
        <p:nvSpPr>
          <p:cNvPr id="7" name="Interest 3"/>
          <p:cNvSpPr/>
          <p:nvPr/>
        </p:nvSpPr>
        <p:spPr>
          <a:xfrm>
            <a:off x="548640" y="3977639"/>
            <a:ext cx="2834640" cy="77724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 rIns="0" tIns="0" bIns="0"/>
          <a:lstStyle/>
          <a:p>
            <a:pPr algn="l">
              <a:buNone/>
            </a:pPr>
            <a:r>
              <a:rPr sz="2000" b="0" i="0">
                <a:solidFill>
                  <a:srgbClr val="12343B"/>
                </a:solidFill>
                <a:latin typeface="Calibri"/>
              </a:rPr>
              <a:t>Stroke &amp; brain injury rehab</a:t>
            </a:r>
          </a:p>
        </p:txBody>
      </p:sp>
      <p:sp>
        <p:nvSpPr>
          <p:cNvPr id="8" name="Interest 4"/>
          <p:cNvSpPr/>
          <p:nvPr/>
        </p:nvSpPr>
        <p:spPr>
          <a:xfrm>
            <a:off x="3566160" y="3977639"/>
            <a:ext cx="2834640" cy="77724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 rIns="0" tIns="0" bIns="0"/>
          <a:lstStyle/>
          <a:p>
            <a:pPr algn="l">
              <a:buNone/>
            </a:pPr>
            <a:r>
              <a:rPr sz="2000" b="0" i="0">
                <a:solidFill>
                  <a:srgbClr val="12343B"/>
                </a:solidFill>
                <a:latin typeface="Calibri"/>
              </a:rPr>
              <a:t>First-break schizophrenia</a:t>
            </a:r>
          </a:p>
        </p:txBody>
      </p:sp>
      <p:sp>
        <p:nvSpPr>
          <p:cNvPr id="9" name="Interest 5"/>
          <p:cNvSpPr/>
          <p:nvPr/>
        </p:nvSpPr>
        <p:spPr>
          <a:xfrm>
            <a:off x="548640" y="4937760"/>
            <a:ext cx="5852160" cy="77724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 rIns="0" tIns="0" bIns="0"/>
          <a:lstStyle/>
          <a:p>
            <a:pPr algn="l">
              <a:buNone/>
            </a:pPr>
            <a:r>
              <a:rPr sz="2000" b="0" i="0">
                <a:solidFill>
                  <a:srgbClr val="12343B"/>
                </a:solidFill>
                <a:latin typeface="Calibri"/>
              </a:rPr>
              <a:t>Obsessive-compulsive disorder</a:t>
            </a:r>
          </a:p>
        </p:txBody>
      </p:sp>
      <p:sp>
        <p:nvSpPr>
          <p:cNvPr id="10" name="Training header"/>
          <p:cNvSpPr txBox="1"/>
          <p:nvPr/>
        </p:nvSpPr>
        <p:spPr>
          <a:xfrm>
            <a:off x="6949440" y="23774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2343B"/>
                </a:solidFill>
                <a:latin typeface="Calibri"/>
              </a:rPr>
              <a:t>Training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78040" y="3246120"/>
            <a:ext cx="0" cy="2331720"/>
          </a:xfrm>
          <a:prstGeom prst="line">
            <a:avLst/>
          </a:prstGeom>
          <a:ln w="38100">
            <a:solidFill>
              <a:srgbClr val="7FB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meline dot 1"/>
          <p:cNvSpPr/>
          <p:nvPr/>
        </p:nvSpPr>
        <p:spPr>
          <a:xfrm>
            <a:off x="6995160" y="3063240"/>
            <a:ext cx="365760" cy="36576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meline step 1"/>
          <p:cNvSpPr txBox="1"/>
          <p:nvPr/>
        </p:nvSpPr>
        <p:spPr>
          <a:xfrm>
            <a:off x="7589520" y="2880360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Smith College</a:t>
            </a:r>
          </a:p>
        </p:txBody>
      </p:sp>
      <p:sp>
        <p:nvSpPr>
          <p:cNvPr id="14" name="Timeline dot 2"/>
          <p:cNvSpPr/>
          <p:nvPr/>
        </p:nvSpPr>
        <p:spPr>
          <a:xfrm>
            <a:off x="6995160" y="3840480"/>
            <a:ext cx="365760" cy="36576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meline step 2"/>
          <p:cNvSpPr txBox="1"/>
          <p:nvPr/>
        </p:nvSpPr>
        <p:spPr>
          <a:xfrm>
            <a:off x="7589520" y="3657600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Washington University in St. Louis</a:t>
            </a:r>
          </a:p>
        </p:txBody>
      </p:sp>
      <p:sp>
        <p:nvSpPr>
          <p:cNvPr id="16" name="Timeline dot 3"/>
          <p:cNvSpPr/>
          <p:nvPr/>
        </p:nvSpPr>
        <p:spPr>
          <a:xfrm>
            <a:off x="6995160" y="4617720"/>
            <a:ext cx="365760" cy="36576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meline step 3"/>
          <p:cNvSpPr txBox="1"/>
          <p:nvPr/>
        </p:nvSpPr>
        <p:spPr>
          <a:xfrm>
            <a:off x="7589520" y="4434840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UCSF: pre-doctoral internship</a:t>
            </a:r>
          </a:p>
        </p:txBody>
      </p:sp>
      <p:sp>
        <p:nvSpPr>
          <p:cNvPr id="18" name="Timeline dot 4"/>
          <p:cNvSpPr/>
          <p:nvPr/>
        </p:nvSpPr>
        <p:spPr>
          <a:xfrm>
            <a:off x="6995160" y="5394960"/>
            <a:ext cx="365760" cy="36576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meline step 4"/>
          <p:cNvSpPr txBox="1"/>
          <p:nvPr/>
        </p:nvSpPr>
        <p:spPr>
          <a:xfrm>
            <a:off x="7589520" y="5212080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UCSF Memory &amp; Aging Center: postdoc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11155680" y="62636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2000" b="0" i="0">
                <a:solidFill>
                  <a:srgbClr val="3E7C8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377440"/>
            <a:ext cx="6766560" cy="1371600"/>
          </a:xfrm>
        </p:spPr>
        <p:txBody>
          <a:bodyPr wrap="square" anchor="b" lIns="0" rIns="0" tIns="0" bIns="0"/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mbria"/>
              </a:rPr>
              <a:t>What the 2026 evaluations told us</a:t>
            </a:r>
          </a:p>
        </p:txBody>
      </p:sp>
      <p:sp>
        <p:nvSpPr>
          <p:cNvPr id="3" name="Section subtitle"/>
          <p:cNvSpPr txBox="1"/>
          <p:nvPr/>
        </p:nvSpPr>
        <p:spPr>
          <a:xfrm>
            <a:off x="731520" y="3931920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400" b="0" i="0">
                <a:solidFill>
                  <a:srgbClr val="EAF2F0"/>
                </a:solidFill>
                <a:latin typeface="Calibri"/>
              </a:rPr>
              <a:t>This conference is something we all build together.</a:t>
            </a:r>
          </a:p>
        </p:txBody>
      </p:sp>
      <p:sp>
        <p:nvSpPr>
          <p:cNvPr id="4" name="Responses circle"/>
          <p:cNvSpPr/>
          <p:nvPr/>
        </p:nvSpPr>
        <p:spPr>
          <a:xfrm>
            <a:off x="8138160" y="1737360"/>
            <a:ext cx="3108960" cy="310896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sponses stat"/>
          <p:cNvSpPr txBox="1"/>
          <p:nvPr/>
        </p:nvSpPr>
        <p:spPr>
          <a:xfrm>
            <a:off x="8138160" y="2011680"/>
            <a:ext cx="3108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8800" b="1" i="0">
                <a:solidFill>
                  <a:srgbClr val="FFFFFF"/>
                </a:solidFill>
                <a:latin typeface="Cambria"/>
              </a:rPr>
              <a:t>26</a:t>
            </a:r>
          </a:p>
          <a:p>
            <a:pPr algn="ctr">
              <a:buNone/>
            </a:pPr>
            <a:r>
              <a:rPr sz="2600" b="0" i="0">
                <a:solidFill>
                  <a:srgbClr val="FFFFFF"/>
                </a:solidFill>
                <a:latin typeface="Calibri"/>
              </a:rPr>
              <a:t>responses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155680" y="62636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2000" b="0" i="0">
                <a:solidFill>
                  <a:srgbClr val="B5C7C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ctr" lIns="0" rIns="0" tIns="0" bIns="0"/>
          <a:lstStyle/>
          <a:p>
            <a:pPr algn="l">
              <a:buNone/>
            </a:pPr>
            <a:r>
              <a:rPr sz="3600" b="1" i="0">
                <a:solidFill>
                  <a:srgbClr val="12343B"/>
                </a:solidFill>
                <a:latin typeface="Cambria"/>
              </a:rPr>
              <a:t>The Speaker and 15x20 led the favorites</a:t>
            </a:r>
          </a:p>
        </p:txBody>
      </p:sp>
      <p:graphicFrame>
        <p:nvGraphicFramePr>
          <p:cNvPr id="3" name="Favorite activities chart"/>
          <p:cNvGraphicFramePr>
            <a:graphicFrameLocks noGrp="1"/>
          </p:cNvGraphicFramePr>
          <p:nvPr/>
        </p:nvGraphicFramePr>
        <p:xfrm>
          <a:off x="365760" y="1371600"/>
          <a:ext cx="75895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Lecture callout card"/>
          <p:cNvSpPr/>
          <p:nvPr/>
        </p:nvSpPr>
        <p:spPr>
          <a:xfrm>
            <a:off x="8229600" y="1554480"/>
            <a:ext cx="3383280" cy="429768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cture callout"/>
          <p:cNvSpPr txBox="1"/>
          <p:nvPr/>
        </p:nvSpPr>
        <p:spPr>
          <a:xfrm>
            <a:off x="8503920" y="1828800"/>
            <a:ext cx="28346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6000" b="1" i="0">
                <a:solidFill>
                  <a:srgbClr val="E8735A"/>
                </a:solidFill>
                <a:latin typeface="Cambria"/>
              </a:rPr>
              <a:t>12 of 22</a:t>
            </a:r>
          </a:p>
          <a:p>
            <a:pPr algn="l">
              <a:spcAft>
                <a:spcPts val="1800"/>
              </a:spcAft>
              <a:buNone/>
            </a:pPr>
            <a:r>
              <a:rPr sz="2200" b="0" i="0">
                <a:solidFill>
                  <a:srgbClr val="12343B"/>
                </a:solidFill>
                <a:latin typeface="Calibri"/>
              </a:rPr>
              <a:t>named the Lecture or Speaker as a favorite</a:t>
            </a:r>
          </a:p>
          <a:p>
            <a:pPr algn="l">
              <a:buNone/>
            </a:pPr>
            <a:r>
              <a:rPr sz="2000" b="0" i="1">
                <a:solidFill>
                  <a:srgbClr val="3E7C8A"/>
                </a:solidFill>
                <a:latin typeface="Calibri"/>
              </a:rPr>
              <a:t>Counts are respondents who mentioned each activity.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155680" y="62636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2000" b="0" i="0">
                <a:solidFill>
                  <a:srgbClr val="3E7C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ctr" lIns="0" rIns="0" tIns="0" bIns="0"/>
          <a:lstStyle/>
          <a:p>
            <a:pPr algn="l">
              <a:buNone/>
            </a:pPr>
            <a:r>
              <a:rPr sz="3600" b="1" i="0">
                <a:solidFill>
                  <a:srgbClr val="12343B"/>
                </a:solidFill>
                <a:latin typeface="Cambria"/>
              </a:rPr>
              <a:t>Familiar traditions still delight</a:t>
            </a:r>
          </a:p>
        </p:txBody>
      </p:sp>
      <p:sp>
        <p:nvSpPr>
          <p:cNvPr id="3" name="Quote 1 card"/>
          <p:cNvSpPr/>
          <p:nvPr/>
        </p:nvSpPr>
        <p:spPr>
          <a:xfrm>
            <a:off x="548640" y="155448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Quote 1 badge"/>
          <p:cNvSpPr/>
          <p:nvPr/>
        </p:nvSpPr>
        <p:spPr>
          <a:xfrm>
            <a:off x="822959" y="1783080"/>
            <a:ext cx="685800" cy="68580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3600" b="1" i="0">
                <a:solidFill>
                  <a:srgbClr val="FFFFFF"/>
                </a:solidFill>
                <a:latin typeface="Calibri"/>
              </a:rPr>
              <a:t>“</a:t>
            </a:r>
          </a:p>
        </p:txBody>
      </p:sp>
      <p:sp>
        <p:nvSpPr>
          <p:cNvPr id="5" name="Quote 1 text"/>
          <p:cNvSpPr txBox="1"/>
          <p:nvPr/>
        </p:nvSpPr>
        <p:spPr>
          <a:xfrm>
            <a:off x="822959" y="2651760"/>
            <a:ext cx="297180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2400" b="0" i="1">
                <a:solidFill>
                  <a:srgbClr val="12343B"/>
                </a:solidFill>
                <a:latin typeface="Calibri"/>
              </a:rPr>
              <a:t>“The speaker was sensational.”</a:t>
            </a:r>
          </a:p>
          <a:p>
            <a:pPr algn="l">
              <a:buNone/>
            </a:pPr>
            <a:r>
              <a:rPr sz="2000" b="0" i="0">
                <a:solidFill>
                  <a:srgbClr val="3E7C8A"/>
                </a:solidFill>
                <a:latin typeface="Calibri"/>
              </a:rPr>
              <a:t>On the Lecture</a:t>
            </a:r>
          </a:p>
        </p:txBody>
      </p:sp>
      <p:sp>
        <p:nvSpPr>
          <p:cNvPr id="6" name="Quote 2 card"/>
          <p:cNvSpPr/>
          <p:nvPr/>
        </p:nvSpPr>
        <p:spPr>
          <a:xfrm>
            <a:off x="4343400" y="155448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Quote 2 badge"/>
          <p:cNvSpPr/>
          <p:nvPr/>
        </p:nvSpPr>
        <p:spPr>
          <a:xfrm>
            <a:off x="4617720" y="1783080"/>
            <a:ext cx="685800" cy="685800"/>
          </a:xfrm>
          <a:prstGeom prst="ellipse">
            <a:avLst/>
          </a:prstGeom>
          <a:solidFill>
            <a:srgbClr val="3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3600" b="1" i="0">
                <a:solidFill>
                  <a:srgbClr val="FFFFFF"/>
                </a:solidFill>
                <a:latin typeface="Calibri"/>
              </a:rPr>
              <a:t>“</a:t>
            </a:r>
          </a:p>
        </p:txBody>
      </p:sp>
      <p:sp>
        <p:nvSpPr>
          <p:cNvPr id="8" name="Quote 2 text"/>
          <p:cNvSpPr txBox="1"/>
          <p:nvPr/>
        </p:nvSpPr>
        <p:spPr>
          <a:xfrm>
            <a:off x="4617720" y="2651760"/>
            <a:ext cx="297180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2400" b="0" i="1">
                <a:solidFill>
                  <a:srgbClr val="12343B"/>
                </a:solidFill>
                <a:latin typeface="Calibri"/>
              </a:rPr>
              <a:t>“Morning chapel continues to delight.”</a:t>
            </a:r>
          </a:p>
          <a:p>
            <a:pPr algn="l">
              <a:buNone/>
            </a:pPr>
            <a:r>
              <a:rPr sz="2000" b="0" i="0">
                <a:solidFill>
                  <a:srgbClr val="3E7C8A"/>
                </a:solidFill>
                <a:latin typeface="Calibri"/>
              </a:rPr>
              <a:t>Chapel in all its forms</a:t>
            </a:r>
          </a:p>
        </p:txBody>
      </p:sp>
      <p:sp>
        <p:nvSpPr>
          <p:cNvPr id="9" name="Quote 3 card"/>
          <p:cNvSpPr/>
          <p:nvPr/>
        </p:nvSpPr>
        <p:spPr>
          <a:xfrm>
            <a:off x="8138160" y="155448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Quote 3 badge"/>
          <p:cNvSpPr/>
          <p:nvPr/>
        </p:nvSpPr>
        <p:spPr>
          <a:xfrm>
            <a:off x="8412480" y="1783080"/>
            <a:ext cx="685800" cy="685800"/>
          </a:xfrm>
          <a:prstGeom prst="ellipse">
            <a:avLst/>
          </a:prstGeom>
          <a:solidFill>
            <a:srgbClr val="8C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3600" b="1" i="0">
                <a:solidFill>
                  <a:srgbClr val="FFFFFF"/>
                </a:solidFill>
                <a:latin typeface="Calibri"/>
              </a:rPr>
              <a:t>“</a:t>
            </a:r>
          </a:p>
        </p:txBody>
      </p:sp>
      <p:sp>
        <p:nvSpPr>
          <p:cNvPr id="11" name="Quote 3 text"/>
          <p:cNvSpPr txBox="1"/>
          <p:nvPr/>
        </p:nvSpPr>
        <p:spPr>
          <a:xfrm>
            <a:off x="8412480" y="2651760"/>
            <a:ext cx="297180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2400" b="0" i="1">
                <a:solidFill>
                  <a:srgbClr val="12343B"/>
                </a:solidFill>
                <a:latin typeface="Calibri"/>
              </a:rPr>
              <a:t>“15 x 20 always just a marvelous way to learn more about people.”</a:t>
            </a:r>
          </a:p>
          <a:p>
            <a:pPr algn="l">
              <a:buNone/>
            </a:pPr>
            <a:r>
              <a:rPr sz="2000" b="0" i="0">
                <a:solidFill>
                  <a:srgbClr val="3E7C8A"/>
                </a:solidFill>
                <a:latin typeface="Calibri"/>
              </a:rPr>
              <a:t>On 15x20</a:t>
            </a:r>
          </a:p>
        </p:txBody>
      </p:sp>
      <p:sp>
        <p:nvSpPr>
          <p:cNvPr id="12" name="Thanks badge"/>
          <p:cNvSpPr/>
          <p:nvPr/>
        </p:nvSpPr>
        <p:spPr>
          <a:xfrm>
            <a:off x="548640" y="5074920"/>
            <a:ext cx="731520" cy="73152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800" b="1" i="0">
                <a:solidFill>
                  <a:srgbClr val="12343B"/>
                </a:solidFill>
                <a:latin typeface="Calibri"/>
              </a:rPr>
              <a:t>★</a:t>
            </a:r>
          </a:p>
        </p:txBody>
      </p:sp>
      <p:sp>
        <p:nvSpPr>
          <p:cNvPr id="13" name="Thanks text"/>
          <p:cNvSpPr txBox="1"/>
          <p:nvPr/>
        </p:nvSpPr>
        <p:spPr>
          <a:xfrm>
            <a:off x="1508760" y="4937760"/>
            <a:ext cx="10104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Real gratitude for the Housing and Children's Program coordinators, and for Cooper and Macy, who kept the Great People Hunt running.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11155680" y="62636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2000" b="0" i="0">
                <a:solidFill>
                  <a:srgbClr val="3E7C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ctr" lIns="0" rIns="0" tIns="0" bIns="0"/>
          <a:lstStyle/>
          <a:p>
            <a:pPr algn="l">
              <a:buNone/>
            </a:pPr>
            <a:r>
              <a:rPr sz="3600" b="1" i="0">
                <a:solidFill>
                  <a:srgbClr val="12343B"/>
                </a:solidFill>
                <a:latin typeface="Cambria"/>
              </a:rPr>
              <a:t>A lighter schedule worked, except on opening night</a:t>
            </a:r>
          </a:p>
        </p:txBody>
      </p:sp>
      <p:sp>
        <p:nvSpPr>
          <p:cNvPr id="3" name="Keep card"/>
          <p:cNvSpPr/>
          <p:nvPr/>
        </p:nvSpPr>
        <p:spPr>
          <a:xfrm>
            <a:off x="548640" y="1554480"/>
            <a:ext cx="5349240" cy="438912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eep text"/>
          <p:cNvSpPr txBox="1"/>
          <p:nvPr/>
        </p:nvSpPr>
        <p:spPr>
          <a:xfrm>
            <a:off x="777240" y="1737360"/>
            <a:ext cx="48920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12343B"/>
                </a:solidFill>
                <a:latin typeface="Calibri"/>
              </a:rPr>
              <a:t>Keep</a:t>
            </a:r>
          </a:p>
        </p:txBody>
      </p:sp>
      <p:sp>
        <p:nvSpPr>
          <p:cNvPr id="5" name="Keep badge"/>
          <p:cNvSpPr/>
          <p:nvPr/>
        </p:nvSpPr>
        <p:spPr>
          <a:xfrm>
            <a:off x="4983479" y="1737360"/>
            <a:ext cx="685800" cy="685800"/>
          </a:xfrm>
          <a:prstGeom prst="ellipse">
            <a:avLst/>
          </a:prstGeom>
          <a:solidFill>
            <a:srgbClr val="7FB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Keep list"/>
          <p:cNvSpPr txBox="1"/>
          <p:nvPr/>
        </p:nvSpPr>
        <p:spPr>
          <a:xfrm>
            <a:off x="777240" y="2423160"/>
            <a:ext cx="4892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20040" indent="-320040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1B2B34"/>
                </a:solidFill>
                <a:latin typeface="Calibri"/>
              </a:rPr>
              <a:t>Fewer things stacked on top of each other</a:t>
            </a:r>
          </a:p>
          <a:p>
            <a:pPr algn="l" marL="320040" indent="-320040">
              <a:spcAft>
                <a:spcPts val="1400"/>
              </a:spcAft>
              <a:buFont typeface="Arial"/>
              <a:buChar char="•"/>
            </a:pPr>
            <a:r>
              <a:rPr sz="2000" b="0" i="1">
                <a:solidFill>
                  <a:srgbClr val="1B2B34"/>
                </a:solidFill>
                <a:latin typeface="Calibri"/>
              </a:rPr>
              <a:t>“The whole week felt a little less frenetic”</a:t>
            </a:r>
          </a:p>
          <a:p>
            <a:pPr algn="l" marL="320040" indent="-320040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1B2B34"/>
                </a:solidFill>
                <a:latin typeface="Calibri"/>
              </a:rPr>
              <a:t>Other meals handled the conference's size fine</a:t>
            </a:r>
          </a:p>
        </p:txBody>
      </p:sp>
      <p:sp>
        <p:nvSpPr>
          <p:cNvPr id="7" name="Fix card"/>
          <p:cNvSpPr/>
          <p:nvPr/>
        </p:nvSpPr>
        <p:spPr>
          <a:xfrm>
            <a:off x="6263640" y="1554480"/>
            <a:ext cx="5349240" cy="438912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x text"/>
          <p:cNvSpPr txBox="1"/>
          <p:nvPr/>
        </p:nvSpPr>
        <p:spPr>
          <a:xfrm>
            <a:off x="6492240" y="1737360"/>
            <a:ext cx="48920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12343B"/>
                </a:solidFill>
                <a:latin typeface="Calibri"/>
              </a:rPr>
              <a:t>Fix</a:t>
            </a:r>
          </a:p>
        </p:txBody>
      </p:sp>
      <p:sp>
        <p:nvSpPr>
          <p:cNvPr id="9" name="Fix badge"/>
          <p:cNvSpPr/>
          <p:nvPr/>
        </p:nvSpPr>
        <p:spPr>
          <a:xfrm>
            <a:off x="10698480" y="1737360"/>
            <a:ext cx="685800" cy="68580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" name="Fix list"/>
          <p:cNvSpPr txBox="1"/>
          <p:nvPr/>
        </p:nvSpPr>
        <p:spPr>
          <a:xfrm>
            <a:off x="6492240" y="2423160"/>
            <a:ext cx="4892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20040" indent="-320040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1B2B34"/>
                </a:solidFill>
                <a:latin typeface="Calibri"/>
              </a:rPr>
              <a:t>Opening night was overstuffed: marshmallow roast, chapel, and get-acquainted all competed</a:t>
            </a:r>
          </a:p>
          <a:p>
            <a:pPr algn="l" marL="320040" indent="-320040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1B2B34"/>
                </a:solidFill>
                <a:latin typeface="Calibri"/>
              </a:rPr>
              <a:t>Consider moving get-acquainted to Monday</a:t>
            </a:r>
          </a:p>
          <a:p>
            <a:pPr algn="l" marL="320040" indent="-320040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1B2B34"/>
                </a:solidFill>
                <a:latin typeface="Calibri"/>
              </a:rPr>
              <a:t>Name That Tune moved too fast this year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1155680" y="62636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2000" b="0" i="0">
                <a:solidFill>
                  <a:srgbClr val="3E7C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ctr" lIns="0" rIns="0" tIns="0" bIns="0"/>
          <a:lstStyle/>
          <a:p>
            <a:pPr algn="l">
              <a:buNone/>
            </a:pPr>
            <a:r>
              <a:rPr sz="3600" b="1" i="0">
                <a:solidFill>
                  <a:srgbClr val="12343B"/>
                </a:solidFill>
                <a:latin typeface="Cambria"/>
              </a:rPr>
              <a:t>Banquet Night hasn't kept pace with our size</a:t>
            </a:r>
          </a:p>
        </p:txBody>
      </p:sp>
      <p:sp>
        <p:nvSpPr>
          <p:cNvPr id="3" name="Seating badge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Seating text"/>
          <p:cNvSpPr txBox="1"/>
          <p:nvPr/>
        </p:nvSpPr>
        <p:spPr>
          <a:xfrm>
            <a:off x="1508760" y="1554480"/>
            <a:ext cx="4709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12343B"/>
                </a:solidFill>
                <a:latin typeface="Calibri"/>
              </a:rPr>
              <a:t>No table inside</a:t>
            </a:r>
          </a:p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Signing up late meant overflow seating</a:t>
            </a:r>
          </a:p>
        </p:txBody>
      </p:sp>
      <p:sp>
        <p:nvSpPr>
          <p:cNvPr id="5" name="Noise badge"/>
          <p:cNvSpPr/>
          <p:nvPr/>
        </p:nvSpPr>
        <p:spPr>
          <a:xfrm>
            <a:off x="548640" y="2971800"/>
            <a:ext cx="731520" cy="73152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Noise text"/>
          <p:cNvSpPr txBox="1"/>
          <p:nvPr/>
        </p:nvSpPr>
        <p:spPr>
          <a:xfrm>
            <a:off x="1508760" y="2880360"/>
            <a:ext cx="4709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12343B"/>
                </a:solidFill>
                <a:latin typeface="Calibri"/>
              </a:rPr>
              <a:t>Loud and crowded outside</a:t>
            </a:r>
          </a:p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Hard to hear what was happening inside</a:t>
            </a:r>
          </a:p>
        </p:txBody>
      </p:sp>
      <p:sp>
        <p:nvSpPr>
          <p:cNvPr id="7" name="Mood badge"/>
          <p:cNvSpPr/>
          <p:nvPr/>
        </p:nvSpPr>
        <p:spPr>
          <a:xfrm>
            <a:off x="548640" y="4297680"/>
            <a:ext cx="731520" cy="73152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Mood text"/>
          <p:cNvSpPr txBox="1"/>
          <p:nvPr/>
        </p:nvSpPr>
        <p:spPr>
          <a:xfrm>
            <a:off x="1508760" y="4206240"/>
            <a:ext cx="4709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12343B"/>
                </a:solidFill>
                <a:latin typeface="Calibri"/>
              </a:rPr>
              <a:t>Stressful, not special</a:t>
            </a:r>
          </a:p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…and that was in good weather</a:t>
            </a:r>
          </a:p>
        </p:txBody>
      </p:sp>
      <p:sp>
        <p:nvSpPr>
          <p:cNvPr id="9" name="Banquet ideas card"/>
          <p:cNvSpPr/>
          <p:nvPr/>
        </p:nvSpPr>
        <p:spPr>
          <a:xfrm>
            <a:off x="6583680" y="1554480"/>
            <a:ext cx="5029200" cy="4389120"/>
          </a:xfrm>
          <a:prstGeom prst="roundRect">
            <a:avLst>
              <a:gd name="adj" fmla="val 6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nquet ideas"/>
          <p:cNvSpPr txBox="1"/>
          <p:nvPr/>
        </p:nvSpPr>
        <p:spPr>
          <a:xfrm>
            <a:off x="6858000" y="1783080"/>
            <a:ext cx="44805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2400" b="1" i="0">
                <a:solidFill>
                  <a:srgbClr val="F2C14E"/>
                </a:solidFill>
                <a:latin typeface="Calibri"/>
              </a:rPr>
              <a:t>Ideas to fold in</a:t>
            </a:r>
          </a:p>
          <a:p>
            <a:pPr algn="l" marL="320040" indent="-320040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Thank year-round roles: Registrar, Housing, Children's Program, Executive Committee, Chairs</a:t>
            </a:r>
          </a:p>
          <a:p>
            <a:pPr algn="l" marL="320040" indent="-320040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Include the children's programs</a:t>
            </a:r>
          </a:p>
          <a:p>
            <a:pPr algn="l" marL="320040" indent="-320040">
              <a:buFont typeface="Arial"/>
              <a:buChar char="•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Bring back the centerpiece contest, with decorations made in the Art Barn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1155680" y="62636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2000" b="0" i="0">
                <a:solidFill>
                  <a:srgbClr val="3E7C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ctr" lIns="0" rIns="0" tIns="0" bIns="0"/>
          <a:lstStyle/>
          <a:p>
            <a:pPr algn="l">
              <a:buNone/>
            </a:pPr>
            <a:r>
              <a:rPr sz="3600" b="1" i="0">
                <a:solidFill>
                  <a:srgbClr val="12343B"/>
                </a:solidFill>
                <a:latin typeface="Cambria"/>
              </a:rPr>
              <a:t>Crowding is a governance question</a:t>
            </a:r>
          </a:p>
        </p:txBody>
      </p:sp>
      <p:sp>
        <p:nvSpPr>
          <p:cNvPr id="3" name="Stat 1 card"/>
          <p:cNvSpPr/>
          <p:nvPr/>
        </p:nvSpPr>
        <p:spPr>
          <a:xfrm>
            <a:off x="548640" y="1645920"/>
            <a:ext cx="2834640" cy="274320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 1"/>
          <p:cNvSpPr txBox="1"/>
          <p:nvPr/>
        </p:nvSpPr>
        <p:spPr>
          <a:xfrm>
            <a:off x="777240" y="1828800"/>
            <a:ext cx="2377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6000" b="1" i="0">
                <a:solidFill>
                  <a:srgbClr val="3E7C8A"/>
                </a:solidFill>
                <a:latin typeface="Cambria"/>
              </a:rPr>
              <a:t>~300</a:t>
            </a:r>
          </a:p>
          <a:p>
            <a:pPr algn="l">
              <a:buNone/>
            </a:pPr>
            <a:r>
              <a:rPr sz="2000" b="0" i="0">
                <a:solidFill>
                  <a:srgbClr val="12343B"/>
                </a:solidFill>
                <a:latin typeface="Calibri"/>
              </a:rPr>
              <a:t>conferees this year</a:t>
            </a:r>
          </a:p>
        </p:txBody>
      </p:sp>
      <p:sp>
        <p:nvSpPr>
          <p:cNvPr id="5" name="Stat 2 card"/>
          <p:cNvSpPr/>
          <p:nvPr/>
        </p:nvSpPr>
        <p:spPr>
          <a:xfrm>
            <a:off x="3657600" y="1645920"/>
            <a:ext cx="2834640" cy="274320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 2"/>
          <p:cNvSpPr txBox="1"/>
          <p:nvPr/>
        </p:nvSpPr>
        <p:spPr>
          <a:xfrm>
            <a:off x="3886200" y="1828800"/>
            <a:ext cx="2377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6000" b="1" i="0">
                <a:solidFill>
                  <a:srgbClr val="E8735A"/>
                </a:solidFill>
                <a:latin typeface="Cambria"/>
              </a:rPr>
              <a:t>10–20</a:t>
            </a:r>
          </a:p>
          <a:p>
            <a:pPr algn="l">
              <a:buNone/>
            </a:pPr>
            <a:r>
              <a:rPr sz="2000" b="0" i="0">
                <a:solidFill>
                  <a:srgbClr val="12343B"/>
                </a:solidFill>
                <a:latin typeface="Calibri"/>
              </a:rPr>
              <a:t>fewer people, as one respondent suggested</a:t>
            </a:r>
          </a:p>
        </p:txBody>
      </p:sp>
      <p:sp>
        <p:nvSpPr>
          <p:cNvPr id="7" name="Crowding text"/>
          <p:cNvSpPr txBox="1"/>
          <p:nvPr/>
        </p:nvSpPr>
        <p:spPr>
          <a:xfrm>
            <a:off x="6949440" y="1645920"/>
            <a:ext cx="4663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  <a:buNone/>
            </a:pPr>
            <a:r>
              <a:rPr sz="2200" b="0" i="0">
                <a:solidFill>
                  <a:srgbClr val="1B2B34"/>
                </a:solidFill>
                <a:latin typeface="Calibri"/>
              </a:rPr>
              <a:t>“Too crowded” came up again, both directly and through the Banquet feedback.</a:t>
            </a:r>
          </a:p>
          <a:p>
            <a:pPr algn="l">
              <a:buNone/>
            </a:pPr>
            <a:r>
              <a:rPr sz="2200" b="1" i="0">
                <a:solidFill>
                  <a:srgbClr val="12343B"/>
                </a:solidFill>
                <a:latin typeface="Calibri"/>
              </a:rPr>
              <a:t>This is about capacity and finances, so a program tweak alone can't fix it.</a:t>
            </a:r>
          </a:p>
        </p:txBody>
      </p:sp>
      <p:sp>
        <p:nvSpPr>
          <p:cNvPr id="8" name="Discuss badge"/>
          <p:cNvSpPr/>
          <p:nvPr/>
        </p:nvSpPr>
        <p:spPr>
          <a:xfrm>
            <a:off x="548640" y="4846320"/>
            <a:ext cx="731520" cy="731520"/>
          </a:xfrm>
          <a:prstGeom prst="ellipse">
            <a:avLst/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9" name="Crowding question"/>
          <p:cNvSpPr txBox="1"/>
          <p:nvPr/>
        </p:nvSpPr>
        <p:spPr>
          <a:xfrm>
            <a:off x="1508760" y="484632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2343B"/>
                </a:solidFill>
                <a:latin typeface="Calibri"/>
              </a:rPr>
              <a:t>For the Star Meeting: do we revisit enrollment for 2027?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155680" y="62636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2000" b="0" i="0">
                <a:solidFill>
                  <a:srgbClr val="3E7C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ctr" lIns="0" rIns="0" tIns="0" bIns="0"/>
          <a:lstStyle/>
          <a:p>
            <a:pPr algn="l">
              <a:buNone/>
            </a:pPr>
            <a:r>
              <a:rPr sz="3600" b="1" i="0">
                <a:solidFill>
                  <a:srgbClr val="12343B"/>
                </a:solidFill>
                <a:latin typeface="Cambria"/>
              </a:rPr>
              <a:t>New ideas from the evaluations</a:t>
            </a:r>
          </a:p>
        </p:txBody>
      </p:sp>
      <p:sp>
        <p:nvSpPr>
          <p:cNvPr id="3" name="Idea 1 card"/>
          <p:cNvSpPr/>
          <p:nvPr/>
        </p:nvSpPr>
        <p:spPr>
          <a:xfrm>
            <a:off x="548640" y="15544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dea 1 text"/>
          <p:cNvSpPr txBox="1"/>
          <p:nvPr/>
        </p:nvSpPr>
        <p:spPr>
          <a:xfrm>
            <a:off x="777240" y="1737360"/>
            <a:ext cx="30632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12343B"/>
                </a:solidFill>
                <a:latin typeface="Calibri"/>
              </a:rPr>
              <a:t>Spontaneity hour</a:t>
            </a:r>
          </a:p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Unplanned time, announced on the chalkboard</a:t>
            </a:r>
          </a:p>
        </p:txBody>
      </p:sp>
      <p:sp>
        <p:nvSpPr>
          <p:cNvPr id="5" name="Idea 1 dot"/>
          <p:cNvSpPr/>
          <p:nvPr/>
        </p:nvSpPr>
        <p:spPr>
          <a:xfrm>
            <a:off x="3566160" y="1810512"/>
            <a:ext cx="292608" cy="292608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dea 2 card"/>
          <p:cNvSpPr/>
          <p:nvPr/>
        </p:nvSpPr>
        <p:spPr>
          <a:xfrm>
            <a:off x="4343400" y="15544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dea 2 text"/>
          <p:cNvSpPr txBox="1"/>
          <p:nvPr/>
        </p:nvSpPr>
        <p:spPr>
          <a:xfrm>
            <a:off x="4572000" y="1737360"/>
            <a:ext cx="30632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12343B"/>
                </a:solidFill>
                <a:latin typeface="Calibri"/>
              </a:rPr>
              <a:t>Intergenerational</a:t>
            </a:r>
          </a:p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More activities that mix ages</a:t>
            </a:r>
          </a:p>
        </p:txBody>
      </p:sp>
      <p:sp>
        <p:nvSpPr>
          <p:cNvPr id="8" name="Idea 2 dot"/>
          <p:cNvSpPr/>
          <p:nvPr/>
        </p:nvSpPr>
        <p:spPr>
          <a:xfrm>
            <a:off x="7360920" y="1810512"/>
            <a:ext cx="292608" cy="292608"/>
          </a:xfrm>
          <a:prstGeom prst="ellipse">
            <a:avLst/>
          </a:prstGeom>
          <a:solidFill>
            <a:srgbClr val="3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dea 3 card"/>
          <p:cNvSpPr/>
          <p:nvPr/>
        </p:nvSpPr>
        <p:spPr>
          <a:xfrm>
            <a:off x="8138160" y="15544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dea 3 text"/>
          <p:cNvSpPr txBox="1"/>
          <p:nvPr/>
        </p:nvSpPr>
        <p:spPr>
          <a:xfrm>
            <a:off x="8366760" y="1737360"/>
            <a:ext cx="30632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12343B"/>
                </a:solidFill>
                <a:latin typeface="Calibri"/>
              </a:rPr>
              <a:t>Teen workshops</a:t>
            </a:r>
          </a:p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Adults lead mini-sessions for Jr &amp; Sr Teens</a:t>
            </a:r>
          </a:p>
        </p:txBody>
      </p:sp>
      <p:sp>
        <p:nvSpPr>
          <p:cNvPr id="11" name="Idea 3 dot"/>
          <p:cNvSpPr/>
          <p:nvPr/>
        </p:nvSpPr>
        <p:spPr>
          <a:xfrm>
            <a:off x="11155680" y="1810512"/>
            <a:ext cx="292608" cy="292608"/>
          </a:xfrm>
          <a:prstGeom prst="ellipse">
            <a:avLst/>
          </a:prstGeom>
          <a:solidFill>
            <a:srgbClr val="8C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dea 4 card"/>
          <p:cNvSpPr/>
          <p:nvPr/>
        </p:nvSpPr>
        <p:spPr>
          <a:xfrm>
            <a:off x="548640" y="379476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dea 4 text"/>
          <p:cNvSpPr txBox="1"/>
          <p:nvPr/>
        </p:nvSpPr>
        <p:spPr>
          <a:xfrm>
            <a:off x="777240" y="3977640"/>
            <a:ext cx="30632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12343B"/>
                </a:solidFill>
                <a:latin typeface="Calibri"/>
              </a:rPr>
              <a:t>Accompanist</a:t>
            </a:r>
          </a:p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A dedicated pianist, perhaps grant-funded</a:t>
            </a:r>
          </a:p>
        </p:txBody>
      </p:sp>
      <p:sp>
        <p:nvSpPr>
          <p:cNvPr id="14" name="Idea 4 dot"/>
          <p:cNvSpPr/>
          <p:nvPr/>
        </p:nvSpPr>
        <p:spPr>
          <a:xfrm>
            <a:off x="3566160" y="4050792"/>
            <a:ext cx="292608" cy="292608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dea 5 card"/>
          <p:cNvSpPr/>
          <p:nvPr/>
        </p:nvSpPr>
        <p:spPr>
          <a:xfrm>
            <a:off x="4343400" y="379476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dea 5 text"/>
          <p:cNvSpPr txBox="1"/>
          <p:nvPr/>
        </p:nvSpPr>
        <p:spPr>
          <a:xfrm>
            <a:off x="4572000" y="3977640"/>
            <a:ext cx="30632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12343B"/>
                </a:solidFill>
                <a:latin typeface="Calibri"/>
              </a:rPr>
              <a:t>Inclusion</a:t>
            </a:r>
          </a:p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Welcome people beyond the regular cast</a:t>
            </a:r>
          </a:p>
        </p:txBody>
      </p:sp>
      <p:sp>
        <p:nvSpPr>
          <p:cNvPr id="17" name="Idea 5 dot"/>
          <p:cNvSpPr/>
          <p:nvPr/>
        </p:nvSpPr>
        <p:spPr>
          <a:xfrm>
            <a:off x="7360920" y="4050792"/>
            <a:ext cx="292608" cy="292608"/>
          </a:xfrm>
          <a:prstGeom prst="ellipse">
            <a:avLst/>
          </a:prstGeom>
          <a:solidFill>
            <a:srgbClr val="3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dea 6 card"/>
          <p:cNvSpPr/>
          <p:nvPr/>
        </p:nvSpPr>
        <p:spPr>
          <a:xfrm>
            <a:off x="8138160" y="379476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dea 6 text"/>
          <p:cNvSpPr txBox="1"/>
          <p:nvPr/>
        </p:nvSpPr>
        <p:spPr>
          <a:xfrm>
            <a:off x="8366760" y="3977640"/>
            <a:ext cx="30632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12343B"/>
                </a:solidFill>
                <a:latin typeface="Calibri"/>
              </a:rPr>
              <a:t>Fuller intros</a:t>
            </a:r>
          </a:p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Introduce Talks on the Rocks speakers properly</a:t>
            </a:r>
          </a:p>
        </p:txBody>
      </p:sp>
      <p:sp>
        <p:nvSpPr>
          <p:cNvPr id="20" name="Idea 6 dot"/>
          <p:cNvSpPr/>
          <p:nvPr/>
        </p:nvSpPr>
        <p:spPr>
          <a:xfrm>
            <a:off x="11155680" y="4050792"/>
            <a:ext cx="292608" cy="292608"/>
          </a:xfrm>
          <a:prstGeom prst="ellipse">
            <a:avLst/>
          </a:prstGeom>
          <a:solidFill>
            <a:srgbClr val="8C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 number"/>
          <p:cNvSpPr txBox="1"/>
          <p:nvPr/>
        </p:nvSpPr>
        <p:spPr>
          <a:xfrm>
            <a:off x="11155680" y="62636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2000" b="0" i="0">
                <a:solidFill>
                  <a:srgbClr val="3E7C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ctr" lIns="0" rIns="0" tIns="0" bIns="0"/>
          <a:lstStyle/>
          <a:p>
            <a:pPr algn="l">
              <a:buNone/>
            </a:pPr>
            <a:r>
              <a:rPr sz="3600" b="1" i="0">
                <a:solidFill>
                  <a:srgbClr val="12343B"/>
                </a:solidFill>
                <a:latin typeface="Cambria"/>
              </a:rPr>
              <a:t>21 people raised a hand to volunteer</a:t>
            </a:r>
          </a:p>
        </p:txBody>
      </p:sp>
      <p:graphicFrame>
        <p:nvGraphicFramePr>
          <p:cNvPr id="3" name="Volunteer interest chart"/>
          <p:cNvGraphicFramePr>
            <a:graphicFrameLocks noGrp="1"/>
          </p:cNvGraphicFramePr>
          <p:nvPr/>
        </p:nvGraphicFramePr>
        <p:xfrm>
          <a:off x="365760" y="1371600"/>
          <a:ext cx="69494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Succession badge"/>
          <p:cNvSpPr/>
          <p:nvPr/>
        </p:nvSpPr>
        <p:spPr>
          <a:xfrm>
            <a:off x="7680960" y="1645920"/>
            <a:ext cx="731520" cy="731520"/>
          </a:xfrm>
          <a:prstGeom prst="ellipse">
            <a:avLst/>
          </a:prstGeom>
          <a:solidFill>
            <a:srgbClr val="3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Succession text"/>
          <p:cNvSpPr txBox="1"/>
          <p:nvPr/>
        </p:nvSpPr>
        <p:spPr>
          <a:xfrm>
            <a:off x="8641080" y="1554480"/>
            <a:ext cx="2971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12343B"/>
                </a:solidFill>
                <a:latin typeface="Calibri"/>
              </a:rPr>
              <a:t>Succession in place</a:t>
            </a:r>
          </a:p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Art Barn has two new leaders</a:t>
            </a:r>
          </a:p>
        </p:txBody>
      </p:sp>
      <p:sp>
        <p:nvSpPr>
          <p:cNvPr id="6" name="Earlier badge"/>
          <p:cNvSpPr/>
          <p:nvPr/>
        </p:nvSpPr>
        <p:spPr>
          <a:xfrm>
            <a:off x="7680960" y="3017520"/>
            <a:ext cx="731520" cy="73152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7" name="Earlier text"/>
          <p:cNvSpPr txBox="1"/>
          <p:nvPr/>
        </p:nvSpPr>
        <p:spPr>
          <a:xfrm>
            <a:off x="8641080" y="2926079"/>
            <a:ext cx="2971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12343B"/>
                </a:solidFill>
                <a:latin typeface="Calibri"/>
              </a:rPr>
              <a:t>Recruit earlier</a:t>
            </a:r>
          </a:p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Book group needs time to pick books</a:t>
            </a:r>
          </a:p>
        </p:txBody>
      </p:sp>
      <p:sp>
        <p:nvSpPr>
          <p:cNvPr id="8" name="Mailing badge"/>
          <p:cNvSpPr/>
          <p:nvPr/>
        </p:nvSpPr>
        <p:spPr>
          <a:xfrm>
            <a:off x="7680960" y="4389120"/>
            <a:ext cx="731520" cy="73152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400" b="1" i="0">
                <a:solidFill>
                  <a:srgbClr val="FFFFFF"/>
                </a:solidFill>
                <a:latin typeface="Calibri"/>
              </a:rPr>
              <a:t>@</a:t>
            </a:r>
          </a:p>
        </p:txBody>
      </p:sp>
      <p:sp>
        <p:nvSpPr>
          <p:cNvPr id="9" name="Mailing text"/>
          <p:cNvSpPr txBox="1"/>
          <p:nvPr/>
        </p:nvSpPr>
        <p:spPr>
          <a:xfrm>
            <a:off x="8641080" y="4297680"/>
            <a:ext cx="2971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12343B"/>
                </a:solidFill>
                <a:latin typeface="Calibri"/>
              </a:rPr>
              <a:t>Check the mailing list</a:t>
            </a:r>
          </a:p>
          <a:p>
            <a:pPr algn="l">
              <a:buNone/>
            </a:pPr>
            <a:r>
              <a:rPr sz="2000" b="0" i="0">
                <a:solidFill>
                  <a:srgbClr val="1B2B34"/>
                </a:solidFill>
                <a:latin typeface="Calibri"/>
              </a:rPr>
              <a:t>One volunteer missed every call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155680" y="62636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2000" b="0" i="0">
                <a:solidFill>
                  <a:srgbClr val="3E7C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377440"/>
            <a:ext cx="6217920" cy="1371600"/>
          </a:xfrm>
        </p:spPr>
        <p:txBody>
          <a:bodyPr wrap="square" anchor="b" lIns="0" rIns="0" tIns="0" bIns="0"/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mbria"/>
              </a:rPr>
              <a:t>For discussion today</a:t>
            </a:r>
          </a:p>
        </p:txBody>
      </p:sp>
      <p:sp>
        <p:nvSpPr>
          <p:cNvPr id="3" name="Closing subtitle"/>
          <p:cNvSpPr txBox="1"/>
          <p:nvPr/>
        </p:nvSpPr>
        <p:spPr>
          <a:xfrm>
            <a:off x="731520" y="393192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400" b="0" i="0">
                <a:solidFill>
                  <a:srgbClr val="EAF2F0"/>
                </a:solidFill>
                <a:latin typeface="Calibri"/>
              </a:rPr>
              <a:t>Thank you for building this conference together.</a:t>
            </a:r>
          </a:p>
        </p:txBody>
      </p:sp>
      <p:sp>
        <p:nvSpPr>
          <p:cNvPr id="4" name="Ask 1 badge"/>
          <p:cNvSpPr/>
          <p:nvPr/>
        </p:nvSpPr>
        <p:spPr>
          <a:xfrm>
            <a:off x="7315200" y="1280160"/>
            <a:ext cx="777240" cy="77724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sk 1 text"/>
          <p:cNvSpPr txBox="1"/>
          <p:nvPr/>
        </p:nvSpPr>
        <p:spPr>
          <a:xfrm>
            <a:off x="8321040" y="1280160"/>
            <a:ext cx="3474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400" b="0" i="0">
                <a:solidFill>
                  <a:srgbClr val="FFFFFF"/>
                </a:solidFill>
                <a:latin typeface="Calibri"/>
              </a:rPr>
              <a:t>Re-envision Banquet Night</a:t>
            </a:r>
          </a:p>
        </p:txBody>
      </p:sp>
      <p:sp>
        <p:nvSpPr>
          <p:cNvPr id="6" name="Ask 2 badge"/>
          <p:cNvSpPr/>
          <p:nvPr/>
        </p:nvSpPr>
        <p:spPr>
          <a:xfrm>
            <a:off x="7315200" y="2377439"/>
            <a:ext cx="777240" cy="77724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Ask 2 text"/>
          <p:cNvSpPr txBox="1"/>
          <p:nvPr/>
        </p:nvSpPr>
        <p:spPr>
          <a:xfrm>
            <a:off x="8321040" y="2377439"/>
            <a:ext cx="3474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400" b="0" i="0">
                <a:solidFill>
                  <a:srgbClr val="FFFFFF"/>
                </a:solidFill>
                <a:latin typeface="Calibri"/>
              </a:rPr>
              <a:t>Enrollment and capacity</a:t>
            </a:r>
          </a:p>
        </p:txBody>
      </p:sp>
      <p:sp>
        <p:nvSpPr>
          <p:cNvPr id="8" name="Ask 3 badge"/>
          <p:cNvSpPr/>
          <p:nvPr/>
        </p:nvSpPr>
        <p:spPr>
          <a:xfrm>
            <a:off x="7315200" y="3474720"/>
            <a:ext cx="777240" cy="77724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Ask 3 text"/>
          <p:cNvSpPr txBox="1"/>
          <p:nvPr/>
        </p:nvSpPr>
        <p:spPr>
          <a:xfrm>
            <a:off x="8321040" y="3474720"/>
            <a:ext cx="3474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400" b="0" i="0">
                <a:solidFill>
                  <a:srgbClr val="FFFFFF"/>
                </a:solidFill>
                <a:latin typeface="Calibri"/>
              </a:rPr>
              <a:t>A lighter opening night</a:t>
            </a:r>
          </a:p>
        </p:txBody>
      </p:sp>
      <p:sp>
        <p:nvSpPr>
          <p:cNvPr id="10" name="Ask 4 badge"/>
          <p:cNvSpPr/>
          <p:nvPr/>
        </p:nvSpPr>
        <p:spPr>
          <a:xfrm>
            <a:off x="7315200" y="4572000"/>
            <a:ext cx="777240" cy="777240"/>
          </a:xfrm>
          <a:prstGeom prst="ellipse">
            <a:avLst/>
          </a:prstGeom>
          <a:solidFill>
            <a:srgbClr val="E8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Ask 4 text"/>
          <p:cNvSpPr txBox="1"/>
          <p:nvPr/>
        </p:nvSpPr>
        <p:spPr>
          <a:xfrm>
            <a:off x="8321040" y="4572000"/>
            <a:ext cx="3474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400" b="0" i="0">
                <a:solidFill>
                  <a:srgbClr val="FFFFFF"/>
                </a:solidFill>
                <a:latin typeface="Calibri"/>
              </a:rPr>
              <a:t>Which new ideas to pilot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155680" y="62636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2000" b="0" i="0">
                <a:solidFill>
                  <a:srgbClr val="B5C7C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2027 All Star I Chair's Update</dc:title>
  <dc:subject/>
  <dc:creator>J. Xavier Prochaska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